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59" r:id="rId3"/>
    <p:sldId id="287" r:id="rId4"/>
    <p:sldId id="262" r:id="rId5"/>
    <p:sldId id="291" r:id="rId6"/>
    <p:sldId id="289" r:id="rId7"/>
    <p:sldId id="293" r:id="rId8"/>
    <p:sldId id="292" r:id="rId9"/>
    <p:sldId id="290" r:id="rId10"/>
    <p:sldId id="2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34" autoAdjust="0"/>
    <p:restoredTop sz="94660"/>
  </p:normalViewPr>
  <p:slideViewPr>
    <p:cSldViewPr snapToGrid="0">
      <p:cViewPr>
        <p:scale>
          <a:sx n="75" d="100"/>
          <a:sy n="75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8F89B-630F-4A68-A36F-D5FF8C0A7F8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CF201-583E-4B94-AFCF-D23DE5FC7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4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26CF1-F04B-2480-44D3-83F8665BA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92106-6048-0B31-514D-72BB83428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8F307-857D-30B4-8476-AC175F963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D45C4-ABDA-47D1-96E4-3B57D4A6C9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51784-4B52-A397-EDBA-E3478BD9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C4ACA-A300-52C7-E8D8-DA3F404CB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58D2-F451-4961-B4D6-850C8924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81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8A1B-2A28-C534-0DFD-8E797270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91687-B2B1-0B52-813E-19C9B1513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1EC2C-C245-81B8-83AD-3D23B0A30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D45C4-ABDA-47D1-96E4-3B57D4A6C9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52EB-FF81-99FB-0141-02B6DD2F3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2D35F-256E-102F-5C81-584FCC97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58D2-F451-4961-B4D6-850C8924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0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ECB3-B0AC-2BF4-EA2B-6D82B130A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CCAE-8C7C-7B25-0D84-399D11ABA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D9F28-E7EE-7D5C-A809-BA3D117D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D45C4-ABDA-47D1-96E4-3B57D4A6C9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A7F82-16C3-F09D-C71B-50A37815F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14371-0810-678F-99FE-9FF0E20FA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58D2-F451-4961-B4D6-850C8924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28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B90C-CFA4-6CFB-BE6E-F905D54C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2E3E3-3A0C-9E98-92FD-641AD307F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5E10A-F3EE-91DD-57D5-51D63ECBB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C1E81-3B3D-F14A-5E36-7819FB660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D45C4-ABDA-47D1-96E4-3B57D4A6C9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EE31F-D6A5-C56F-A4B0-4F6A36919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CB053-009E-39DC-7289-ABADA872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58D2-F451-4961-B4D6-850C8924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63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D2F01-5BAA-A64E-D8BD-458AB572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B42B9-69CE-7522-51A4-4CE6036AD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A83E5-9038-D166-6A3C-D3FEADE29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DD544C-069A-9A72-AECB-CFEAFFF20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F368B4-1B15-331E-ECA7-9AF75DAB5E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C806DE-0F4D-0C27-ED85-28BAEBEB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D45C4-ABDA-47D1-96E4-3B57D4A6C9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469573-0CD7-6A1F-35A5-3FB00E5FD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F43672-B78D-8FB1-D99C-F33153CC6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58D2-F451-4961-B4D6-850C8924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6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A03A9-CDE9-5664-7F6A-752649E8E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40B1F3-E53B-9AF7-67EE-A69A15D73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D45C4-ABDA-47D1-96E4-3B57D4A6C9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4E1CB-FCE2-400E-1780-D1341403D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44030-7C4C-51F5-3572-A48587EF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58D2-F451-4961-B4D6-850C8924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92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AFEFDB-21B3-DB03-D407-A8FF643D3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D45C4-ABDA-47D1-96E4-3B57D4A6C9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03A256-E583-3B18-3D3C-CF80DFA33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70F62-5B2B-4764-62FC-B14680F1F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58D2-F451-4961-B4D6-850C8924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38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C8DE8-5FCB-14B1-E2C0-6F4319473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26BDE-34E2-D69D-95AF-BD29AE12C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1A5EB-8453-E459-3908-578031383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6A8D7-6286-E4E1-BA2E-61F219D58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D45C4-ABDA-47D1-96E4-3B57D4A6C9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F16EC-25E4-520D-B298-2DAF7A7A8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E0FD3-A1FF-6A18-54EB-1A89B72B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58D2-F451-4961-B4D6-850C8924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51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C4EE-19A7-7156-A21B-B29BB83F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2D290F-AC6E-F2A7-2BB6-95AD8A60D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7CEB4-0F6F-F9D0-95C6-3D1AD49AD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ECCA2-F9BC-064A-6D43-DD89D586B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D45C4-ABDA-47D1-96E4-3B57D4A6C9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1AFF1-061B-5B4E-1A41-3D22558D8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A02D7-9493-2816-CA89-96B928295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58D2-F451-4961-B4D6-850C8924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09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03A1-F617-3877-AA05-90D4CED56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B9839-15D3-6394-3F5C-CAADA2E4C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3B952-DC52-137D-2889-95D975516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D45C4-ABDA-47D1-96E4-3B57D4A6C9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35CD7-4C17-8482-9FF6-8F8020E97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A1FF9-F90D-2D65-B28D-BBC1F01C5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58D2-F451-4961-B4D6-850C8924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79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CD8F3-ABDD-8B35-1D0D-826CFFAC0C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71672-BA13-FDC9-56C9-E37ECC168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B4D1F-AA36-3F6F-495A-006AC1E2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D45C4-ABDA-47D1-96E4-3B57D4A6C9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61486-2AC3-7AB8-0A64-1AAB9BF9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48B96-CEF8-AEEA-756F-C73A4317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58D2-F451-4961-B4D6-850C8924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27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F0A801-6886-BCB3-1BE5-E901EA67B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6A2FF-CE29-CF83-ACDD-3DF0200F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170CD-5436-7FE4-471D-7E8EAE36F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D45C4-ABDA-47D1-96E4-3B57D4A6C9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BF067-82F0-B684-3188-DD37342BC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ED690-723F-B341-778F-F775C644A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D58D2-F451-4961-B4D6-850C8924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85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E4536490-8BB1-7142-C70F-FEB17D4A731C}"/>
              </a:ext>
            </a:extLst>
          </p:cNvPr>
          <p:cNvSpPr/>
          <p:nvPr/>
        </p:nvSpPr>
        <p:spPr>
          <a:xfrm>
            <a:off x="2395219" y="5416982"/>
            <a:ext cx="7630160" cy="773154"/>
          </a:xfrm>
          <a:custGeom>
            <a:avLst/>
            <a:gdLst/>
            <a:ahLst/>
            <a:cxnLst/>
            <a:rect l="l" t="t" r="r" b="b"/>
            <a:pathLst>
              <a:path w="21945600" h="2286000">
                <a:moveTo>
                  <a:pt x="0" y="0"/>
                </a:moveTo>
                <a:lnTo>
                  <a:pt x="21945600" y="0"/>
                </a:lnTo>
                <a:lnTo>
                  <a:pt x="21945600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College of Engineering Jalgaon</a:t>
            </a:r>
          </a:p>
          <a:p>
            <a:pPr algn="ctr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Institute of Government of Maharashtra)</a:t>
            </a: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4A8B0-8A82-DE80-32CF-49E441C4F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47953" y="486362"/>
            <a:ext cx="918089" cy="52322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27709DF7-08A7-9566-A8CD-F8E2AB21F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282" y="1059081"/>
            <a:ext cx="3603812" cy="121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Progress Review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097CC3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97CC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NIDAR 2026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145" name="Picture 7">
            <a:extLst>
              <a:ext uri="{FF2B5EF4-FFF2-40B4-BE49-F238E27FC236}">
                <a16:creationId xmlns:a16="http://schemas.microsoft.com/office/drawing/2014/main" id="{34A0EF3A-D874-32F5-3D23-0F8B23601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6998" y="3688483"/>
            <a:ext cx="1778000" cy="153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75B39124-E92A-7F17-D317-6F1322952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632" y="2145035"/>
            <a:ext cx="8590750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097CC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 Statement –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rgbClr val="097CC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VEGAPilot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097CC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Indigenous Autonomous Flight Control System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rgbClr val="097CC3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lang="en-US" altLang="en-US" sz="1700" b="1" dirty="0">
                <a:solidFill>
                  <a:srgbClr val="097CC3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88946C-6319-07A6-3FFE-57A9954E3FE3}"/>
              </a:ext>
            </a:extLst>
          </p:cNvPr>
          <p:cNvSpPr txBox="1"/>
          <p:nvPr/>
        </p:nvSpPr>
        <p:spPr>
          <a:xfrm>
            <a:off x="3047998" y="2540346"/>
            <a:ext cx="6096000" cy="1441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Team </a:t>
            </a:r>
            <a:r>
              <a:rPr lang="en-IN" sz="2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Navdrishti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Team ID: </a:t>
            </a:r>
            <a:r>
              <a:rPr lang="en-IN" b="1" kern="100" dirty="0">
                <a:latin typeface="Arial" panose="020B060402020202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N2631037</a:t>
            </a:r>
            <a:br>
              <a:rPr lang="en-IN" b="1" kern="100" dirty="0">
                <a:latin typeface="Arial" panose="020B060402020202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</a:br>
            <a:r>
              <a:rPr lang="en-IN" sz="1200" b="1" kern="100" dirty="0">
                <a:latin typeface="Arial" panose="020B060402020202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Presented By </a:t>
            </a:r>
            <a:endParaRPr lang="en-US" sz="1200" b="1" kern="100" dirty="0"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13A1A29B-3F85-73E8-97E2-891B8C468279}"/>
              </a:ext>
            </a:extLst>
          </p:cNvPr>
          <p:cNvSpPr/>
          <p:nvPr/>
        </p:nvSpPr>
        <p:spPr>
          <a:xfrm>
            <a:off x="2280919" y="4986553"/>
            <a:ext cx="7630160" cy="773154"/>
          </a:xfrm>
          <a:custGeom>
            <a:avLst/>
            <a:gdLst/>
            <a:ahLst/>
            <a:cxnLst/>
            <a:rect l="l" t="t" r="r" b="b"/>
            <a:pathLst>
              <a:path w="21945600" h="2286000">
                <a:moveTo>
                  <a:pt x="0" y="0"/>
                </a:moveTo>
                <a:lnTo>
                  <a:pt x="21945600" y="0"/>
                </a:lnTo>
                <a:lnTo>
                  <a:pt x="21945600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CLUB OF</a:t>
            </a:r>
          </a:p>
          <a:p>
            <a:pPr algn="ctr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E808E-178C-5BD2-1E32-A6C366F9080F}"/>
              </a:ext>
            </a:extLst>
          </p:cNvPr>
          <p:cNvSpPr txBox="1"/>
          <p:nvPr/>
        </p:nvSpPr>
        <p:spPr>
          <a:xfrm>
            <a:off x="5764671" y="397361"/>
            <a:ext cx="1903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NIDAR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E66ECB-45DA-98AD-8026-A93258C5F8E5}"/>
              </a:ext>
            </a:extLst>
          </p:cNvPr>
          <p:cNvSpPr txBox="1"/>
          <p:nvPr/>
        </p:nvSpPr>
        <p:spPr>
          <a:xfrm>
            <a:off x="9290957" y="239066"/>
            <a:ext cx="268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fornian FB" panose="0207040306080B030204" pitchFamily="18" charset="0"/>
              </a:rPr>
              <a:t>TEAM NAVDRISHTI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F200EC15-A7E0-3972-5B55-4E309A1334C5}"/>
              </a:ext>
            </a:extLst>
          </p:cNvPr>
          <p:cNvGrpSpPr/>
          <p:nvPr/>
        </p:nvGrpSpPr>
        <p:grpSpPr>
          <a:xfrm>
            <a:off x="0" y="6345657"/>
            <a:ext cx="12192000" cy="512343"/>
            <a:chOff x="0" y="0"/>
            <a:chExt cx="24383998" cy="1006476"/>
          </a:xfrm>
        </p:grpSpPr>
        <p:sp>
          <p:nvSpPr>
            <p:cNvPr id="12" name="Freeform 3">
              <a:extLst>
                <a:ext uri="{FF2B5EF4-FFF2-40B4-BE49-F238E27FC236}">
                  <a16:creationId xmlns:a16="http://schemas.microsoft.com/office/drawing/2014/main" id="{E36158FE-743D-DBEC-6E2A-6F98B466C1FC}"/>
                </a:ext>
              </a:extLst>
            </p:cNvPr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</p:spTree>
    <p:extLst>
      <p:ext uri="{BB962C8B-B14F-4D97-AF65-F5344CB8AC3E}">
        <p14:creationId xmlns:p14="http://schemas.microsoft.com/office/powerpoint/2010/main" val="1244168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9">
            <a:extLst>
              <a:ext uri="{FF2B5EF4-FFF2-40B4-BE49-F238E27FC236}">
                <a16:creationId xmlns:a16="http://schemas.microsoft.com/office/drawing/2014/main" id="{A75EF5AB-0B85-F1AF-AAAA-BAD5C721E407}"/>
              </a:ext>
            </a:extLst>
          </p:cNvPr>
          <p:cNvSpPr txBox="1"/>
          <p:nvPr/>
        </p:nvSpPr>
        <p:spPr>
          <a:xfrm>
            <a:off x="0" y="1906448"/>
            <a:ext cx="9654785" cy="3045104"/>
          </a:xfrm>
          <a:prstGeom prst="rect">
            <a:avLst/>
          </a:prstGeom>
        </p:spPr>
        <p:txBody>
          <a:bodyPr vert="horz" wrap="square" lIns="0" tIns="189523" rIns="0" bIns="0" rtlCol="0">
            <a:spAutoFit/>
          </a:bodyPr>
          <a:lstStyle/>
          <a:p>
            <a:pPr marL="1060615" lvl="1" indent="-285750">
              <a:lnSpc>
                <a:spcPct val="150000"/>
              </a:lnSpc>
              <a:spcBef>
                <a:spcPts val="173"/>
              </a:spcBef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						</a:t>
            </a:r>
          </a:p>
          <a:p>
            <a:pPr marL="1060615" lvl="1" indent="-285750">
              <a:lnSpc>
                <a:spcPct val="150000"/>
              </a:lnSpc>
              <a:spcBef>
                <a:spcPts val="173"/>
              </a:spcBef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1060615" lvl="1" indent="-285750">
              <a:lnSpc>
                <a:spcPct val="150000"/>
              </a:lnSpc>
              <a:spcBef>
                <a:spcPts val="173"/>
              </a:spcBef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Working Flow</a:t>
            </a:r>
          </a:p>
          <a:p>
            <a:pPr marL="1060615" lvl="1" indent="-285750">
              <a:lnSpc>
                <a:spcPct val="150000"/>
              </a:lnSpc>
              <a:spcBef>
                <a:spcPts val="173"/>
              </a:spcBef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</a:t>
            </a:r>
          </a:p>
          <a:p>
            <a:pPr marL="1060615" lvl="1" indent="-285750">
              <a:lnSpc>
                <a:spcPct val="150000"/>
              </a:lnSpc>
              <a:spcBef>
                <a:spcPts val="173"/>
              </a:spcBef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Since Previous Round</a:t>
            </a:r>
          </a:p>
          <a:p>
            <a:pPr marL="1060615" lvl="1" indent="-285750">
              <a:lnSpc>
                <a:spcPct val="150000"/>
              </a:lnSpc>
              <a:spcBef>
                <a:spcPts val="173"/>
              </a:spcBef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Stack and Libraries</a:t>
            </a:r>
          </a:p>
          <a:p>
            <a:pPr marL="1060615" lvl="1" indent="-285750">
              <a:lnSpc>
                <a:spcPct val="150000"/>
              </a:lnSpc>
              <a:spcBef>
                <a:spcPts val="173"/>
              </a:spcBef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GCS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88DC2-FEA8-200C-E118-52A7F3028F01}"/>
              </a:ext>
            </a:extLst>
          </p:cNvPr>
          <p:cNvSpPr txBox="1"/>
          <p:nvPr/>
        </p:nvSpPr>
        <p:spPr>
          <a:xfrm>
            <a:off x="-95314" y="105376"/>
            <a:ext cx="6096000" cy="106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4865" lvl="1">
              <a:lnSpc>
                <a:spcPct val="150000"/>
              </a:lnSpc>
              <a:spcBef>
                <a:spcPts val="173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61CE27D3-DC02-1B0E-F369-F1E1D7DDEECE}"/>
              </a:ext>
            </a:extLst>
          </p:cNvPr>
          <p:cNvGrpSpPr/>
          <p:nvPr/>
        </p:nvGrpSpPr>
        <p:grpSpPr>
          <a:xfrm>
            <a:off x="0" y="6345657"/>
            <a:ext cx="12192000" cy="512343"/>
            <a:chOff x="0" y="0"/>
            <a:chExt cx="24383998" cy="1006476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597C9C97-3E53-2F6E-FC7D-04DE6729AB59}"/>
                </a:ext>
              </a:extLst>
            </p:cNvPr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326D18-0822-E3F1-1BCA-C548CB7B34BA}"/>
              </a:ext>
            </a:extLst>
          </p:cNvPr>
          <p:cNvSpPr/>
          <p:nvPr/>
        </p:nvSpPr>
        <p:spPr>
          <a:xfrm rot="1428417">
            <a:off x="9397431" y="1237498"/>
            <a:ext cx="3722494" cy="3713006"/>
          </a:xfrm>
          <a:custGeom>
            <a:avLst/>
            <a:gdLst>
              <a:gd name="connsiteX0" fmla="*/ 2621849 w 2825384"/>
              <a:gd name="connsiteY0" fmla="*/ 2586523 h 3092891"/>
              <a:gd name="connsiteX1" fmla="*/ 2612112 w 2825384"/>
              <a:gd name="connsiteY1" fmla="*/ 2611074 h 3092891"/>
              <a:gd name="connsiteX2" fmla="*/ 2650819 w 2825384"/>
              <a:gd name="connsiteY2" fmla="*/ 2656472 h 3092891"/>
              <a:gd name="connsiteX3" fmla="*/ 2691916 w 2825384"/>
              <a:gd name="connsiteY3" fmla="*/ 2614419 h 3092891"/>
              <a:gd name="connsiteX4" fmla="*/ 2648430 w 2825384"/>
              <a:gd name="connsiteY4" fmla="*/ 2576668 h 3092891"/>
              <a:gd name="connsiteX5" fmla="*/ 2621849 w 2825384"/>
              <a:gd name="connsiteY5" fmla="*/ 2586523 h 3092891"/>
              <a:gd name="connsiteX6" fmla="*/ 491988 w 2825384"/>
              <a:gd name="connsiteY6" fmla="*/ 2585807 h 3092891"/>
              <a:gd name="connsiteX7" fmla="*/ 480818 w 2825384"/>
              <a:gd name="connsiteY7" fmla="*/ 2614897 h 3092891"/>
              <a:gd name="connsiteX8" fmla="*/ 519047 w 2825384"/>
              <a:gd name="connsiteY8" fmla="*/ 2652171 h 3092891"/>
              <a:gd name="connsiteX9" fmla="*/ 560144 w 2825384"/>
              <a:gd name="connsiteY9" fmla="*/ 2613942 h 3092891"/>
              <a:gd name="connsiteX10" fmla="*/ 518570 w 2825384"/>
              <a:gd name="connsiteY10" fmla="*/ 2572844 h 3092891"/>
              <a:gd name="connsiteX11" fmla="*/ 491988 w 2825384"/>
              <a:gd name="connsiteY11" fmla="*/ 2585807 h 3092891"/>
              <a:gd name="connsiteX12" fmla="*/ 492526 w 2825384"/>
              <a:gd name="connsiteY12" fmla="*/ 449018 h 3092891"/>
              <a:gd name="connsiteX13" fmla="*/ 480818 w 2825384"/>
              <a:gd name="connsiteY13" fmla="*/ 475479 h 3092891"/>
              <a:gd name="connsiteX14" fmla="*/ 518092 w 2825384"/>
              <a:gd name="connsiteY14" fmla="*/ 514187 h 3092891"/>
              <a:gd name="connsiteX15" fmla="*/ 560145 w 2825384"/>
              <a:gd name="connsiteY15" fmla="*/ 475479 h 3092891"/>
              <a:gd name="connsiteX16" fmla="*/ 520004 w 2825384"/>
              <a:gd name="connsiteY16" fmla="*/ 438684 h 3092891"/>
              <a:gd name="connsiteX17" fmla="*/ 492526 w 2825384"/>
              <a:gd name="connsiteY17" fmla="*/ 449018 h 3092891"/>
              <a:gd name="connsiteX18" fmla="*/ 917589 w 2825384"/>
              <a:gd name="connsiteY18" fmla="*/ 24372 h 3092891"/>
              <a:gd name="connsiteX19" fmla="*/ 973023 w 2825384"/>
              <a:gd name="connsiteY19" fmla="*/ 0 h 3092891"/>
              <a:gd name="connsiteX20" fmla="*/ 993094 w 2825384"/>
              <a:gd name="connsiteY20" fmla="*/ 0 h 3092891"/>
              <a:gd name="connsiteX21" fmla="*/ 1004084 w 2825384"/>
              <a:gd name="connsiteY21" fmla="*/ 35840 h 3092891"/>
              <a:gd name="connsiteX22" fmla="*/ 972545 w 2825384"/>
              <a:gd name="connsiteY22" fmla="*/ 103220 h 3092891"/>
              <a:gd name="connsiteX23" fmla="*/ 794299 w 2825384"/>
              <a:gd name="connsiteY23" fmla="*/ 301536 h 3092891"/>
              <a:gd name="connsiteX24" fmla="*/ 672443 w 2825384"/>
              <a:gd name="connsiteY24" fmla="*/ 396631 h 3092891"/>
              <a:gd name="connsiteX25" fmla="*/ 683912 w 2825384"/>
              <a:gd name="connsiteY25" fmla="*/ 514665 h 3092891"/>
              <a:gd name="connsiteX26" fmla="*/ 689646 w 2825384"/>
              <a:gd name="connsiteY26" fmla="*/ 529000 h 3092891"/>
              <a:gd name="connsiteX27" fmla="*/ 1074331 w 2825384"/>
              <a:gd name="connsiteY27" fmla="*/ 858729 h 3092891"/>
              <a:gd name="connsiteX28" fmla="*/ 1347194 w 2825384"/>
              <a:gd name="connsiteY28" fmla="*/ 1027418 h 3092891"/>
              <a:gd name="connsiteX29" fmla="*/ 1375389 w 2825384"/>
              <a:gd name="connsiteY29" fmla="*/ 1028373 h 3092891"/>
              <a:gd name="connsiteX30" fmla="*/ 1812161 w 2825384"/>
              <a:gd name="connsiteY30" fmla="*/ 1047010 h 3092891"/>
              <a:gd name="connsiteX31" fmla="*/ 1836053 w 2825384"/>
              <a:gd name="connsiteY31" fmla="*/ 1046054 h 3092891"/>
              <a:gd name="connsiteX32" fmla="*/ 1912592 w 2825384"/>
              <a:gd name="connsiteY32" fmla="*/ 1000550 h 3092891"/>
              <a:gd name="connsiteX33" fmla="*/ 2086736 w 2825384"/>
              <a:gd name="connsiteY33" fmla="*/ 1314550 h 3092891"/>
              <a:gd name="connsiteX34" fmla="*/ 2122409 w 2825384"/>
              <a:gd name="connsiteY34" fmla="*/ 1423063 h 3092891"/>
              <a:gd name="connsiteX35" fmla="*/ 2090758 w 2825384"/>
              <a:gd name="connsiteY35" fmla="*/ 1760946 h 3092891"/>
              <a:gd name="connsiteX36" fmla="*/ 2091713 w 2825384"/>
              <a:gd name="connsiteY36" fmla="*/ 1786272 h 3092891"/>
              <a:gd name="connsiteX37" fmla="*/ 2386558 w 2825384"/>
              <a:gd name="connsiteY37" fmla="*/ 2221134 h 3092891"/>
              <a:gd name="connsiteX38" fmla="*/ 2588697 w 2825384"/>
              <a:gd name="connsiteY38" fmla="*/ 2432829 h 3092891"/>
              <a:gd name="connsiteX39" fmla="*/ 2608289 w 2825384"/>
              <a:gd name="connsiteY39" fmla="*/ 2437608 h 3092891"/>
              <a:gd name="connsiteX40" fmla="*/ 2677043 w 2825384"/>
              <a:gd name="connsiteY40" fmla="*/ 2430738 h 3092891"/>
              <a:gd name="connsiteX41" fmla="*/ 2712403 w 2825384"/>
              <a:gd name="connsiteY41" fmla="*/ 2442697 h 3092891"/>
              <a:gd name="connsiteX42" fmla="*/ 2825384 w 2825384"/>
              <a:gd name="connsiteY42" fmla="*/ 2646413 h 3092891"/>
              <a:gd name="connsiteX43" fmla="*/ 2806671 w 2825384"/>
              <a:gd name="connsiteY43" fmla="*/ 2695747 h 3092891"/>
              <a:gd name="connsiteX44" fmla="*/ 2765507 w 2825384"/>
              <a:gd name="connsiteY44" fmla="*/ 2743444 h 3092891"/>
              <a:gd name="connsiteX45" fmla="*/ 2561458 w 2825384"/>
              <a:gd name="connsiteY45" fmla="*/ 2761603 h 3092891"/>
              <a:gd name="connsiteX46" fmla="*/ 2495991 w 2825384"/>
              <a:gd name="connsiteY46" fmla="*/ 2851442 h 3092891"/>
              <a:gd name="connsiteX47" fmla="*/ 2279038 w 2825384"/>
              <a:gd name="connsiteY47" fmla="*/ 3055492 h 3092891"/>
              <a:gd name="connsiteX48" fmla="*/ 2215003 w 2825384"/>
              <a:gd name="connsiteY48" fmla="*/ 3088465 h 3092891"/>
              <a:gd name="connsiteX49" fmla="*/ 2180596 w 2825384"/>
              <a:gd name="connsiteY49" fmla="*/ 3086554 h 3092891"/>
              <a:gd name="connsiteX50" fmla="*/ 2176773 w 2825384"/>
              <a:gd name="connsiteY50" fmla="*/ 3052626 h 3092891"/>
              <a:gd name="connsiteX51" fmla="*/ 2217393 w 2825384"/>
              <a:gd name="connsiteY51" fmla="*/ 2971865 h 3092891"/>
              <a:gd name="connsiteX52" fmla="*/ 2488822 w 2825384"/>
              <a:gd name="connsiteY52" fmla="*/ 2699002 h 3092891"/>
              <a:gd name="connsiteX53" fmla="*/ 2493601 w 2825384"/>
              <a:gd name="connsiteY53" fmla="*/ 2695179 h 3092891"/>
              <a:gd name="connsiteX54" fmla="*/ 2472574 w 2825384"/>
              <a:gd name="connsiteY54" fmla="*/ 2623499 h 3092891"/>
              <a:gd name="connsiteX55" fmla="*/ 2476875 w 2825384"/>
              <a:gd name="connsiteY55" fmla="*/ 2571889 h 3092891"/>
              <a:gd name="connsiteX56" fmla="*/ 2473053 w 2825384"/>
              <a:gd name="connsiteY56" fmla="*/ 2558031 h 3092891"/>
              <a:gd name="connsiteX57" fmla="*/ 1988016 w 2825384"/>
              <a:gd name="connsiteY57" fmla="*/ 2137506 h 3092891"/>
              <a:gd name="connsiteX58" fmla="*/ 1840354 w 2825384"/>
              <a:gd name="connsiteY58" fmla="*/ 2045278 h 3092891"/>
              <a:gd name="connsiteX59" fmla="*/ 1819806 w 2825384"/>
              <a:gd name="connsiteY59" fmla="*/ 2045755 h 3092891"/>
              <a:gd name="connsiteX60" fmla="*/ 1324734 w 2825384"/>
              <a:gd name="connsiteY60" fmla="*/ 2045278 h 3092891"/>
              <a:gd name="connsiteX61" fmla="*/ 1304186 w 2825384"/>
              <a:gd name="connsiteY61" fmla="*/ 2045755 h 3092891"/>
              <a:gd name="connsiteX62" fmla="*/ 858812 w 2825384"/>
              <a:gd name="connsiteY62" fmla="*/ 2375485 h 3092891"/>
              <a:gd name="connsiteX63" fmla="*/ 687735 w 2825384"/>
              <a:gd name="connsiteY63" fmla="*/ 2547995 h 3092891"/>
              <a:gd name="connsiteX64" fmla="*/ 682478 w 2825384"/>
              <a:gd name="connsiteY64" fmla="*/ 2565677 h 3092891"/>
              <a:gd name="connsiteX65" fmla="*/ 670531 w 2825384"/>
              <a:gd name="connsiteY65" fmla="*/ 2692312 h 3092891"/>
              <a:gd name="connsiteX66" fmla="*/ 737911 w 2825384"/>
              <a:gd name="connsiteY66" fmla="*/ 2736754 h 3092891"/>
              <a:gd name="connsiteX67" fmla="*/ 971588 w 2825384"/>
              <a:gd name="connsiteY67" fmla="*/ 2957051 h 3092891"/>
              <a:gd name="connsiteX68" fmla="*/ 1007429 w 2825384"/>
              <a:gd name="connsiteY68" fmla="*/ 3019175 h 3092891"/>
              <a:gd name="connsiteX69" fmla="*/ 1006474 w 2825384"/>
              <a:gd name="connsiteY69" fmla="*/ 3055492 h 3092891"/>
              <a:gd name="connsiteX70" fmla="*/ 971111 w 2825384"/>
              <a:gd name="connsiteY70" fmla="*/ 3059793 h 3092891"/>
              <a:gd name="connsiteX71" fmla="*/ 870281 w 2825384"/>
              <a:gd name="connsiteY71" fmla="*/ 3012006 h 3092891"/>
              <a:gd name="connsiteX72" fmla="*/ 607931 w 2825384"/>
              <a:gd name="connsiteY72" fmla="*/ 2764948 h 3092891"/>
              <a:gd name="connsiteX73" fmla="*/ 604586 w 2825384"/>
              <a:gd name="connsiteY73" fmla="*/ 2761125 h 3092891"/>
              <a:gd name="connsiteX74" fmla="*/ 388589 w 2825384"/>
              <a:gd name="connsiteY74" fmla="*/ 2735320 h 3092891"/>
              <a:gd name="connsiteX75" fmla="*/ 361351 w 2825384"/>
              <a:gd name="connsiteY75" fmla="*/ 2513589 h 3092891"/>
              <a:gd name="connsiteX76" fmla="*/ 348926 w 2825384"/>
              <a:gd name="connsiteY76" fmla="*/ 2506899 h 3092891"/>
              <a:gd name="connsiteX77" fmla="*/ 27321 w 2825384"/>
              <a:gd name="connsiteY77" fmla="*/ 2221612 h 3092891"/>
              <a:gd name="connsiteX78" fmla="*/ 2471 w 2825384"/>
              <a:gd name="connsiteY78" fmla="*/ 2170480 h 3092891"/>
              <a:gd name="connsiteX79" fmla="*/ 32100 w 2825384"/>
              <a:gd name="connsiteY79" fmla="*/ 2136551 h 3092891"/>
              <a:gd name="connsiteX80" fmla="*/ 108080 w 2825384"/>
              <a:gd name="connsiteY80" fmla="*/ 2165701 h 3092891"/>
              <a:gd name="connsiteX81" fmla="*/ 322166 w 2825384"/>
              <a:gd name="connsiteY81" fmla="*/ 2333433 h 3092891"/>
              <a:gd name="connsiteX82" fmla="*/ 376642 w 2825384"/>
              <a:gd name="connsiteY82" fmla="*/ 2391733 h 3092891"/>
              <a:gd name="connsiteX83" fmla="*/ 424429 w 2825384"/>
              <a:gd name="connsiteY83" fmla="*/ 2454812 h 3092891"/>
              <a:gd name="connsiteX84" fmla="*/ 556799 w 2825384"/>
              <a:gd name="connsiteY84" fmla="*/ 2439519 h 3092891"/>
              <a:gd name="connsiteX85" fmla="*/ 567312 w 2825384"/>
              <a:gd name="connsiteY85" fmla="*/ 2436175 h 3092891"/>
              <a:gd name="connsiteX86" fmla="*/ 1011252 w 2825384"/>
              <a:gd name="connsiteY86" fmla="*/ 1876112 h 3092891"/>
              <a:gd name="connsiteX87" fmla="*/ 1059517 w 2825384"/>
              <a:gd name="connsiteY87" fmla="*/ 1781972 h 3092891"/>
              <a:gd name="connsiteX88" fmla="*/ 1059517 w 2825384"/>
              <a:gd name="connsiteY88" fmla="*/ 1764769 h 3092891"/>
              <a:gd name="connsiteX89" fmla="*/ 1082454 w 2825384"/>
              <a:gd name="connsiteY89" fmla="*/ 1280688 h 3092891"/>
              <a:gd name="connsiteX90" fmla="*/ 1080543 w 2825384"/>
              <a:gd name="connsiteY90" fmla="*/ 1262529 h 3092891"/>
              <a:gd name="connsiteX91" fmla="*/ 746991 w 2825384"/>
              <a:gd name="connsiteY91" fmla="*/ 811898 h 3092891"/>
              <a:gd name="connsiteX92" fmla="*/ 578781 w 2825384"/>
              <a:gd name="connsiteY92" fmla="*/ 647512 h 3092891"/>
              <a:gd name="connsiteX93" fmla="*/ 563011 w 2825384"/>
              <a:gd name="connsiteY93" fmla="*/ 642733 h 3092891"/>
              <a:gd name="connsiteX94" fmla="*/ 411527 w 2825384"/>
              <a:gd name="connsiteY94" fmla="*/ 621229 h 3092891"/>
              <a:gd name="connsiteX95" fmla="*/ 405314 w 2825384"/>
              <a:gd name="connsiteY95" fmla="*/ 629831 h 3092891"/>
              <a:gd name="connsiteX96" fmla="*/ 121461 w 2825384"/>
              <a:gd name="connsiteY96" fmla="*/ 910340 h 3092891"/>
              <a:gd name="connsiteX97" fmla="*/ 61249 w 2825384"/>
              <a:gd name="connsiteY97" fmla="*/ 939968 h 3092891"/>
              <a:gd name="connsiteX98" fmla="*/ 22542 w 2825384"/>
              <a:gd name="connsiteY98" fmla="*/ 938534 h 3092891"/>
              <a:gd name="connsiteX99" fmla="*/ 21109 w 2825384"/>
              <a:gd name="connsiteY99" fmla="*/ 898871 h 3092891"/>
              <a:gd name="connsiteX100" fmla="*/ 70329 w 2825384"/>
              <a:gd name="connsiteY100" fmla="*/ 811421 h 3092891"/>
              <a:gd name="connsiteX101" fmla="*/ 347014 w 2825384"/>
              <a:gd name="connsiteY101" fmla="*/ 554806 h 3092891"/>
              <a:gd name="connsiteX102" fmla="*/ 350360 w 2825384"/>
              <a:gd name="connsiteY102" fmla="*/ 552416 h 3092891"/>
              <a:gd name="connsiteX103" fmla="*/ 404836 w 2825384"/>
              <a:gd name="connsiteY103" fmla="*/ 330686 h 3092891"/>
              <a:gd name="connsiteX104" fmla="*/ 609842 w 2825384"/>
              <a:gd name="connsiteY104" fmla="*/ 323039 h 3092891"/>
              <a:gd name="connsiteX105" fmla="*/ 644249 w 2825384"/>
              <a:gd name="connsiteY105" fmla="*/ 273819 h 3092891"/>
              <a:gd name="connsiteX106" fmla="*/ 917589 w 2825384"/>
              <a:gd name="connsiteY106" fmla="*/ 24372 h 309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2825384" h="3092891">
                <a:moveTo>
                  <a:pt x="2621849" y="2586523"/>
                </a:moveTo>
                <a:cubicBezTo>
                  <a:pt x="2615457" y="2592557"/>
                  <a:pt x="2611873" y="2601039"/>
                  <a:pt x="2612112" y="2611074"/>
                </a:cubicBezTo>
                <a:cubicBezTo>
                  <a:pt x="2612590" y="2638791"/>
                  <a:pt x="2627882" y="2656950"/>
                  <a:pt x="2650819" y="2656472"/>
                </a:cubicBezTo>
                <a:cubicBezTo>
                  <a:pt x="2673279" y="2655994"/>
                  <a:pt x="2692395" y="2636402"/>
                  <a:pt x="2691916" y="2614419"/>
                </a:cubicBezTo>
                <a:cubicBezTo>
                  <a:pt x="2691438" y="2593871"/>
                  <a:pt x="2671368" y="2576190"/>
                  <a:pt x="2648430" y="2576668"/>
                </a:cubicBezTo>
                <a:cubicBezTo>
                  <a:pt x="2637439" y="2576906"/>
                  <a:pt x="2628240" y="2580491"/>
                  <a:pt x="2621849" y="2586523"/>
                </a:cubicBezTo>
                <a:close/>
                <a:moveTo>
                  <a:pt x="491988" y="2585807"/>
                </a:moveTo>
                <a:cubicBezTo>
                  <a:pt x="484999" y="2593512"/>
                  <a:pt x="480579" y="2603906"/>
                  <a:pt x="480818" y="2614897"/>
                </a:cubicBezTo>
                <a:cubicBezTo>
                  <a:pt x="480818" y="2635924"/>
                  <a:pt x="498022" y="2652649"/>
                  <a:pt x="519047" y="2652171"/>
                </a:cubicBezTo>
                <a:cubicBezTo>
                  <a:pt x="541029" y="2652171"/>
                  <a:pt x="560144" y="2634490"/>
                  <a:pt x="560144" y="2613942"/>
                </a:cubicBezTo>
                <a:cubicBezTo>
                  <a:pt x="560144" y="2591482"/>
                  <a:pt x="540551" y="2572844"/>
                  <a:pt x="518570" y="2572844"/>
                </a:cubicBezTo>
                <a:cubicBezTo>
                  <a:pt x="508535" y="2573083"/>
                  <a:pt x="498977" y="2578101"/>
                  <a:pt x="491988" y="2585807"/>
                </a:cubicBezTo>
                <a:close/>
                <a:moveTo>
                  <a:pt x="492526" y="449018"/>
                </a:moveTo>
                <a:cubicBezTo>
                  <a:pt x="485478" y="455648"/>
                  <a:pt x="481057" y="464966"/>
                  <a:pt x="480818" y="475479"/>
                </a:cubicBezTo>
                <a:cubicBezTo>
                  <a:pt x="480340" y="496506"/>
                  <a:pt x="497065" y="513708"/>
                  <a:pt x="518092" y="514187"/>
                </a:cubicBezTo>
                <a:cubicBezTo>
                  <a:pt x="538640" y="514187"/>
                  <a:pt x="559188" y="495072"/>
                  <a:pt x="560145" y="475479"/>
                </a:cubicBezTo>
                <a:cubicBezTo>
                  <a:pt x="560623" y="457320"/>
                  <a:pt x="541030" y="439161"/>
                  <a:pt x="520004" y="438684"/>
                </a:cubicBezTo>
                <a:cubicBezTo>
                  <a:pt x="509252" y="438445"/>
                  <a:pt x="499574" y="442387"/>
                  <a:pt x="492526" y="449018"/>
                </a:cubicBezTo>
                <a:close/>
                <a:moveTo>
                  <a:pt x="917589" y="24372"/>
                </a:moveTo>
                <a:cubicBezTo>
                  <a:pt x="934794" y="14335"/>
                  <a:pt x="954386" y="8124"/>
                  <a:pt x="973023" y="0"/>
                </a:cubicBezTo>
                <a:cubicBezTo>
                  <a:pt x="979713" y="0"/>
                  <a:pt x="986403" y="0"/>
                  <a:pt x="993094" y="0"/>
                </a:cubicBezTo>
                <a:cubicBezTo>
                  <a:pt x="1007429" y="8602"/>
                  <a:pt x="1009341" y="22460"/>
                  <a:pt x="1004084" y="35840"/>
                </a:cubicBezTo>
                <a:cubicBezTo>
                  <a:pt x="995005" y="58778"/>
                  <a:pt x="985446" y="82194"/>
                  <a:pt x="972545" y="103220"/>
                </a:cubicBezTo>
                <a:cubicBezTo>
                  <a:pt x="924758" y="179678"/>
                  <a:pt x="862635" y="243713"/>
                  <a:pt x="794299" y="301536"/>
                </a:cubicBezTo>
                <a:cubicBezTo>
                  <a:pt x="755592" y="334508"/>
                  <a:pt x="714017" y="364136"/>
                  <a:pt x="672443" y="396631"/>
                </a:cubicBezTo>
                <a:cubicBezTo>
                  <a:pt x="690125" y="434383"/>
                  <a:pt x="693947" y="473567"/>
                  <a:pt x="683912" y="514665"/>
                </a:cubicBezTo>
                <a:cubicBezTo>
                  <a:pt x="682956" y="518966"/>
                  <a:pt x="686302" y="525656"/>
                  <a:pt x="689646" y="529000"/>
                </a:cubicBezTo>
                <a:cubicBezTo>
                  <a:pt x="811503" y="646557"/>
                  <a:pt x="938138" y="757900"/>
                  <a:pt x="1074331" y="858729"/>
                </a:cubicBezTo>
                <a:cubicBezTo>
                  <a:pt x="1160347" y="922287"/>
                  <a:pt x="1249708" y="981542"/>
                  <a:pt x="1347194" y="1027418"/>
                </a:cubicBezTo>
                <a:cubicBezTo>
                  <a:pt x="1357229" y="1032196"/>
                  <a:pt x="1365352" y="1032197"/>
                  <a:pt x="1375389" y="1028373"/>
                </a:cubicBezTo>
                <a:cubicBezTo>
                  <a:pt x="1523528" y="973897"/>
                  <a:pt x="1669277" y="980587"/>
                  <a:pt x="1812161" y="1047010"/>
                </a:cubicBezTo>
                <a:cubicBezTo>
                  <a:pt x="1821240" y="1051311"/>
                  <a:pt x="1827930" y="1050833"/>
                  <a:pt x="1836053" y="1046054"/>
                </a:cubicBezTo>
                <a:lnTo>
                  <a:pt x="1912592" y="1000550"/>
                </a:lnTo>
                <a:lnTo>
                  <a:pt x="2086736" y="1314550"/>
                </a:lnTo>
                <a:lnTo>
                  <a:pt x="2122409" y="1423063"/>
                </a:lnTo>
                <a:cubicBezTo>
                  <a:pt x="2147206" y="1535422"/>
                  <a:pt x="2135916" y="1648049"/>
                  <a:pt x="2090758" y="1760946"/>
                </a:cubicBezTo>
                <a:cubicBezTo>
                  <a:pt x="2086934" y="1770503"/>
                  <a:pt x="2087412" y="1777671"/>
                  <a:pt x="2091713" y="1786272"/>
                </a:cubicBezTo>
                <a:cubicBezTo>
                  <a:pt x="2171995" y="1943492"/>
                  <a:pt x="2272826" y="2086853"/>
                  <a:pt x="2386558" y="2221134"/>
                </a:cubicBezTo>
                <a:cubicBezTo>
                  <a:pt x="2449636" y="2295681"/>
                  <a:pt x="2517494" y="2365927"/>
                  <a:pt x="2588697" y="2432829"/>
                </a:cubicBezTo>
                <a:cubicBezTo>
                  <a:pt x="2594909" y="2438564"/>
                  <a:pt x="2599687" y="2440475"/>
                  <a:pt x="2608289" y="2437608"/>
                </a:cubicBezTo>
                <a:cubicBezTo>
                  <a:pt x="2631705" y="2430201"/>
                  <a:pt x="2654642" y="2428051"/>
                  <a:pt x="2677043" y="2430738"/>
                </a:cubicBezTo>
                <a:lnTo>
                  <a:pt x="2712403" y="2442697"/>
                </a:lnTo>
                <a:lnTo>
                  <a:pt x="2825384" y="2646413"/>
                </a:lnTo>
                <a:lnTo>
                  <a:pt x="2806671" y="2695747"/>
                </a:lnTo>
                <a:cubicBezTo>
                  <a:pt x="2796569" y="2712562"/>
                  <a:pt x="2782949" y="2728511"/>
                  <a:pt x="2765507" y="2743444"/>
                </a:cubicBezTo>
                <a:cubicBezTo>
                  <a:pt x="2702907" y="2796966"/>
                  <a:pt x="2632660" y="2799355"/>
                  <a:pt x="2561458" y="2761603"/>
                </a:cubicBezTo>
                <a:cubicBezTo>
                  <a:pt x="2539476" y="2791709"/>
                  <a:pt x="2518928" y="2822770"/>
                  <a:pt x="2495991" y="2851442"/>
                </a:cubicBezTo>
                <a:cubicBezTo>
                  <a:pt x="2433389" y="2929813"/>
                  <a:pt x="2362664" y="3000059"/>
                  <a:pt x="2279038" y="3055492"/>
                </a:cubicBezTo>
                <a:cubicBezTo>
                  <a:pt x="2258967" y="3068872"/>
                  <a:pt x="2236985" y="3078430"/>
                  <a:pt x="2215003" y="3088465"/>
                </a:cubicBezTo>
                <a:cubicBezTo>
                  <a:pt x="2204011" y="3093244"/>
                  <a:pt x="2191110" y="3096111"/>
                  <a:pt x="2180596" y="3086554"/>
                </a:cubicBezTo>
                <a:cubicBezTo>
                  <a:pt x="2170083" y="3076996"/>
                  <a:pt x="2171995" y="3063616"/>
                  <a:pt x="2176773" y="3052626"/>
                </a:cubicBezTo>
                <a:cubicBezTo>
                  <a:pt x="2189198" y="3025386"/>
                  <a:pt x="2200668" y="2996714"/>
                  <a:pt x="2217393" y="2971865"/>
                </a:cubicBezTo>
                <a:cubicBezTo>
                  <a:pt x="2291462" y="2864823"/>
                  <a:pt x="2379390" y="2771160"/>
                  <a:pt x="2488822" y="2699002"/>
                </a:cubicBezTo>
                <a:cubicBezTo>
                  <a:pt x="2490255" y="2698046"/>
                  <a:pt x="2491211" y="2697091"/>
                  <a:pt x="2493601" y="2695179"/>
                </a:cubicBezTo>
                <a:cubicBezTo>
                  <a:pt x="2480699" y="2672719"/>
                  <a:pt x="2472574" y="2648826"/>
                  <a:pt x="2472574" y="2623499"/>
                </a:cubicBezTo>
                <a:cubicBezTo>
                  <a:pt x="2472574" y="2606295"/>
                  <a:pt x="2475920" y="2589092"/>
                  <a:pt x="2476875" y="2571889"/>
                </a:cubicBezTo>
                <a:cubicBezTo>
                  <a:pt x="2477353" y="2567111"/>
                  <a:pt x="2475919" y="2560898"/>
                  <a:pt x="2473053" y="2558031"/>
                </a:cubicBezTo>
                <a:cubicBezTo>
                  <a:pt x="2321090" y="2406546"/>
                  <a:pt x="2164350" y="2260319"/>
                  <a:pt x="1988016" y="2137506"/>
                </a:cubicBezTo>
                <a:cubicBezTo>
                  <a:pt x="1940229" y="2104533"/>
                  <a:pt x="1889574" y="2076339"/>
                  <a:pt x="1840354" y="2045278"/>
                </a:cubicBezTo>
                <a:cubicBezTo>
                  <a:pt x="1832709" y="2040499"/>
                  <a:pt x="1826974" y="2041933"/>
                  <a:pt x="1819806" y="2045755"/>
                </a:cubicBezTo>
                <a:cubicBezTo>
                  <a:pt x="1654941" y="2126038"/>
                  <a:pt x="1489599" y="2125560"/>
                  <a:pt x="1324734" y="2045278"/>
                </a:cubicBezTo>
                <a:cubicBezTo>
                  <a:pt x="1317087" y="2041455"/>
                  <a:pt x="1311832" y="2041454"/>
                  <a:pt x="1304186" y="2045755"/>
                </a:cubicBezTo>
                <a:cubicBezTo>
                  <a:pt x="1142188" y="2137506"/>
                  <a:pt x="994526" y="2248850"/>
                  <a:pt x="858812" y="2375485"/>
                </a:cubicBezTo>
                <a:cubicBezTo>
                  <a:pt x="799556" y="2430918"/>
                  <a:pt x="744602" y="2490174"/>
                  <a:pt x="687735" y="2547995"/>
                </a:cubicBezTo>
                <a:cubicBezTo>
                  <a:pt x="682478" y="2553252"/>
                  <a:pt x="681045" y="2558031"/>
                  <a:pt x="682478" y="2565677"/>
                </a:cubicBezTo>
                <a:cubicBezTo>
                  <a:pt x="692035" y="2614897"/>
                  <a:pt x="691080" y="2620154"/>
                  <a:pt x="670531" y="2692312"/>
                </a:cubicBezTo>
                <a:cubicBezTo>
                  <a:pt x="692992" y="2707126"/>
                  <a:pt x="715929" y="2721462"/>
                  <a:pt x="737911" y="2736754"/>
                </a:cubicBezTo>
                <a:cubicBezTo>
                  <a:pt x="825838" y="2799355"/>
                  <a:pt x="906598" y="2870079"/>
                  <a:pt x="971588" y="2957051"/>
                </a:cubicBezTo>
                <a:cubicBezTo>
                  <a:pt x="985925" y="2976167"/>
                  <a:pt x="996917" y="2998148"/>
                  <a:pt x="1007429" y="3019175"/>
                </a:cubicBezTo>
                <a:cubicBezTo>
                  <a:pt x="1013164" y="3030643"/>
                  <a:pt x="1016509" y="3044501"/>
                  <a:pt x="1006474" y="3055492"/>
                </a:cubicBezTo>
                <a:cubicBezTo>
                  <a:pt x="996917" y="3066005"/>
                  <a:pt x="983536" y="3062660"/>
                  <a:pt x="971111" y="3059793"/>
                </a:cubicBezTo>
                <a:cubicBezTo>
                  <a:pt x="934315" y="3051191"/>
                  <a:pt x="901820" y="3032555"/>
                  <a:pt x="870281" y="3012006"/>
                </a:cubicBezTo>
                <a:cubicBezTo>
                  <a:pt x="768017" y="2945105"/>
                  <a:pt x="680567" y="2862434"/>
                  <a:pt x="607931" y="2764948"/>
                </a:cubicBezTo>
                <a:cubicBezTo>
                  <a:pt x="606975" y="2763515"/>
                  <a:pt x="605542" y="2762559"/>
                  <a:pt x="604586" y="2761125"/>
                </a:cubicBezTo>
                <a:cubicBezTo>
                  <a:pt x="534817" y="2806044"/>
                  <a:pt x="440677" y="2787885"/>
                  <a:pt x="388589" y="2735320"/>
                </a:cubicBezTo>
                <a:cubicBezTo>
                  <a:pt x="339369" y="2686100"/>
                  <a:pt x="313085" y="2603906"/>
                  <a:pt x="361351" y="2513589"/>
                </a:cubicBezTo>
                <a:cubicBezTo>
                  <a:pt x="357050" y="2511200"/>
                  <a:pt x="352749" y="2509289"/>
                  <a:pt x="348926" y="2506899"/>
                </a:cubicBezTo>
                <a:cubicBezTo>
                  <a:pt x="220857" y="2435219"/>
                  <a:pt x="112859" y="2341078"/>
                  <a:pt x="27321" y="2221612"/>
                </a:cubicBezTo>
                <a:cubicBezTo>
                  <a:pt x="16330" y="2206320"/>
                  <a:pt x="8683" y="2188161"/>
                  <a:pt x="2471" y="2170480"/>
                </a:cubicBezTo>
                <a:cubicBezTo>
                  <a:pt x="-5652" y="2145630"/>
                  <a:pt x="6773" y="2130339"/>
                  <a:pt x="32100" y="2136551"/>
                </a:cubicBezTo>
                <a:cubicBezTo>
                  <a:pt x="58383" y="2143241"/>
                  <a:pt x="84665" y="2152798"/>
                  <a:pt x="108080" y="2165701"/>
                </a:cubicBezTo>
                <a:cubicBezTo>
                  <a:pt x="188840" y="2209187"/>
                  <a:pt x="257175" y="2269398"/>
                  <a:pt x="322166" y="2333433"/>
                </a:cubicBezTo>
                <a:cubicBezTo>
                  <a:pt x="341280" y="2352070"/>
                  <a:pt x="359440" y="2371185"/>
                  <a:pt x="376642" y="2391733"/>
                </a:cubicBezTo>
                <a:cubicBezTo>
                  <a:pt x="393368" y="2411804"/>
                  <a:pt x="408182" y="2433307"/>
                  <a:pt x="424429" y="2454812"/>
                </a:cubicBezTo>
                <a:cubicBezTo>
                  <a:pt x="465526" y="2431395"/>
                  <a:pt x="510446" y="2428528"/>
                  <a:pt x="556799" y="2439519"/>
                </a:cubicBezTo>
                <a:cubicBezTo>
                  <a:pt x="560145" y="2440475"/>
                  <a:pt x="565401" y="2438564"/>
                  <a:pt x="567312" y="2436175"/>
                </a:cubicBezTo>
                <a:cubicBezTo>
                  <a:pt x="732655" y="2263186"/>
                  <a:pt x="889874" y="2083985"/>
                  <a:pt x="1011252" y="1876112"/>
                </a:cubicBezTo>
                <a:cubicBezTo>
                  <a:pt x="1028933" y="1845529"/>
                  <a:pt x="1043746" y="1813511"/>
                  <a:pt x="1059517" y="1781972"/>
                </a:cubicBezTo>
                <a:cubicBezTo>
                  <a:pt x="1061907" y="1777193"/>
                  <a:pt x="1061907" y="1770025"/>
                  <a:pt x="1059517" y="1764769"/>
                </a:cubicBezTo>
                <a:cubicBezTo>
                  <a:pt x="992615" y="1599904"/>
                  <a:pt x="998827" y="1438384"/>
                  <a:pt x="1082454" y="1280688"/>
                </a:cubicBezTo>
                <a:cubicBezTo>
                  <a:pt x="1086277" y="1273042"/>
                  <a:pt x="1083888" y="1268263"/>
                  <a:pt x="1080543" y="1262529"/>
                </a:cubicBezTo>
                <a:cubicBezTo>
                  <a:pt x="987358" y="1099098"/>
                  <a:pt x="876493" y="948569"/>
                  <a:pt x="746991" y="811898"/>
                </a:cubicBezTo>
                <a:cubicBezTo>
                  <a:pt x="692991" y="755033"/>
                  <a:pt x="635169" y="701989"/>
                  <a:pt x="578781" y="647512"/>
                </a:cubicBezTo>
                <a:cubicBezTo>
                  <a:pt x="574958" y="644167"/>
                  <a:pt x="567312" y="641299"/>
                  <a:pt x="563011" y="642733"/>
                </a:cubicBezTo>
                <a:cubicBezTo>
                  <a:pt x="506145" y="658025"/>
                  <a:pt x="462659" y="652768"/>
                  <a:pt x="411527" y="621229"/>
                </a:cubicBezTo>
                <a:cubicBezTo>
                  <a:pt x="409615" y="624097"/>
                  <a:pt x="407226" y="626964"/>
                  <a:pt x="405314" y="629831"/>
                </a:cubicBezTo>
                <a:cubicBezTo>
                  <a:pt x="330767" y="742608"/>
                  <a:pt x="235671" y="836749"/>
                  <a:pt x="121461" y="910340"/>
                </a:cubicBezTo>
                <a:cubicBezTo>
                  <a:pt x="102824" y="922287"/>
                  <a:pt x="81798" y="931366"/>
                  <a:pt x="61249" y="939968"/>
                </a:cubicBezTo>
                <a:cubicBezTo>
                  <a:pt x="48824" y="945224"/>
                  <a:pt x="34011" y="950003"/>
                  <a:pt x="22542" y="938534"/>
                </a:cubicBezTo>
                <a:cubicBezTo>
                  <a:pt x="10595" y="926588"/>
                  <a:pt x="14895" y="910818"/>
                  <a:pt x="21109" y="898871"/>
                </a:cubicBezTo>
                <a:cubicBezTo>
                  <a:pt x="36400" y="868765"/>
                  <a:pt x="50736" y="838181"/>
                  <a:pt x="70329" y="811421"/>
                </a:cubicBezTo>
                <a:cubicBezTo>
                  <a:pt x="146310" y="708201"/>
                  <a:pt x="238539" y="622663"/>
                  <a:pt x="347014" y="554806"/>
                </a:cubicBezTo>
                <a:cubicBezTo>
                  <a:pt x="347970" y="554327"/>
                  <a:pt x="348926" y="553372"/>
                  <a:pt x="350360" y="552416"/>
                </a:cubicBezTo>
                <a:cubicBezTo>
                  <a:pt x="316432" y="465922"/>
                  <a:pt x="329333" y="388507"/>
                  <a:pt x="404836" y="330686"/>
                </a:cubicBezTo>
                <a:cubicBezTo>
                  <a:pt x="468872" y="281465"/>
                  <a:pt x="539118" y="282898"/>
                  <a:pt x="609842" y="323039"/>
                </a:cubicBezTo>
                <a:cubicBezTo>
                  <a:pt x="621312" y="306792"/>
                  <a:pt x="631825" y="290066"/>
                  <a:pt x="644249" y="273819"/>
                </a:cubicBezTo>
                <a:cubicBezTo>
                  <a:pt x="720708" y="174900"/>
                  <a:pt x="809113" y="88405"/>
                  <a:pt x="917589" y="24372"/>
                </a:cubicBezTo>
                <a:close/>
              </a:path>
            </a:pathLst>
          </a:custGeom>
          <a:solidFill>
            <a:srgbClr val="0070C0">
              <a:alpha val="20000"/>
            </a:srgbClr>
          </a:solidFill>
          <a:ln w="497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A0F6BF-8AB7-E86E-634E-2119DB4DBCF0}"/>
              </a:ext>
            </a:extLst>
          </p:cNvPr>
          <p:cNvSpPr txBox="1"/>
          <p:nvPr/>
        </p:nvSpPr>
        <p:spPr>
          <a:xfrm>
            <a:off x="9290957" y="239066"/>
            <a:ext cx="268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fornian FB" panose="0207040306080B030204" pitchFamily="18" charset="0"/>
              </a:rPr>
              <a:t>TEAM NAVDRISHTI</a:t>
            </a:r>
          </a:p>
        </p:txBody>
      </p:sp>
    </p:spTree>
    <p:extLst>
      <p:ext uri="{BB962C8B-B14F-4D97-AF65-F5344CB8AC3E}">
        <p14:creationId xmlns:p14="http://schemas.microsoft.com/office/powerpoint/2010/main" val="179365348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350E3-E41A-5EF3-018A-F05A9A06D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B387E25-631A-CB51-620E-960B5F31BCEB}"/>
              </a:ext>
            </a:extLst>
          </p:cNvPr>
          <p:cNvSpPr txBox="1"/>
          <p:nvPr/>
        </p:nvSpPr>
        <p:spPr>
          <a:xfrm>
            <a:off x="-545289" y="-277680"/>
            <a:ext cx="6096000" cy="106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4865" lvl="1">
              <a:lnSpc>
                <a:spcPct val="150000"/>
              </a:lnSpc>
              <a:spcBef>
                <a:spcPts val="173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2EC50B-C509-CF1D-C98D-7EA1528B7078}"/>
              </a:ext>
            </a:extLst>
          </p:cNvPr>
          <p:cNvSpPr txBox="1"/>
          <p:nvPr/>
        </p:nvSpPr>
        <p:spPr>
          <a:xfrm>
            <a:off x="9290957" y="239066"/>
            <a:ext cx="268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NAVDRISHTI</a:t>
            </a:r>
          </a:p>
        </p:txBody>
      </p:sp>
      <p:grpSp>
        <p:nvGrpSpPr>
          <p:cNvPr id="18" name="Group 2">
            <a:extLst>
              <a:ext uri="{FF2B5EF4-FFF2-40B4-BE49-F238E27FC236}">
                <a16:creationId xmlns:a16="http://schemas.microsoft.com/office/drawing/2014/main" id="{3FB0950D-31C7-C347-453D-6F037EED18D2}"/>
              </a:ext>
            </a:extLst>
          </p:cNvPr>
          <p:cNvGrpSpPr/>
          <p:nvPr/>
        </p:nvGrpSpPr>
        <p:grpSpPr>
          <a:xfrm>
            <a:off x="0" y="6345657"/>
            <a:ext cx="12192000" cy="512343"/>
            <a:chOff x="0" y="0"/>
            <a:chExt cx="24383998" cy="1006476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B67F0F14-F299-5612-6083-A68C49286899}"/>
                </a:ext>
              </a:extLst>
            </p:cNvPr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D0E4334D-435F-05BF-65FA-F2E5E5478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498102">
            <a:off x="5029459" y="4173843"/>
            <a:ext cx="45719" cy="4571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FC25E6E-213B-2B7F-B2B9-FBBAAE08712C}"/>
              </a:ext>
            </a:extLst>
          </p:cNvPr>
          <p:cNvSpPr txBox="1"/>
          <p:nvPr/>
        </p:nvSpPr>
        <p:spPr>
          <a:xfrm>
            <a:off x="400409" y="979437"/>
            <a:ext cx="11391182" cy="615553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an Indigenous GNSS-Integrated Intelligent Flight Control System using ARIES v3, IMU and an Autonomous Flight Controller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67AE24-8FFE-9CBD-28F5-B0CA38C53EBD}"/>
              </a:ext>
            </a:extLst>
          </p:cNvPr>
          <p:cNvSpPr txBox="1"/>
          <p:nvPr/>
        </p:nvSpPr>
        <p:spPr>
          <a:xfrm>
            <a:off x="529754" y="1974025"/>
            <a:ext cx="2927991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1. External Dependency</a:t>
            </a:r>
          </a:p>
          <a:p>
            <a:r>
              <a:rPr lang="en-IN" dirty="0"/>
              <a:t>Dependence on externally developed flight-control technology can limit control over customisation and supply chains.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CB1563-0184-0264-8715-0B536D9CE063}"/>
              </a:ext>
            </a:extLst>
          </p:cNvPr>
          <p:cNvSpPr txBox="1"/>
          <p:nvPr/>
        </p:nvSpPr>
        <p:spPr>
          <a:xfrm>
            <a:off x="8507379" y="2012799"/>
            <a:ext cx="2927991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2. Indigenous Capability</a:t>
            </a:r>
          </a:p>
          <a:p>
            <a:r>
              <a:rPr lang="en-IN" dirty="0"/>
              <a:t>Build local expertise in embedded systems and indigenous processor-based flight control.</a:t>
            </a:r>
          </a:p>
          <a:p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E0B049-CF11-06E3-1D18-5225A2CBDC3A}"/>
              </a:ext>
            </a:extLst>
          </p:cNvPr>
          <p:cNvSpPr txBox="1"/>
          <p:nvPr/>
        </p:nvSpPr>
        <p:spPr>
          <a:xfrm>
            <a:off x="529754" y="4371591"/>
            <a:ext cx="2973252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/>
              <a:t>3. Technical Challenge</a:t>
            </a:r>
          </a:p>
          <a:p>
            <a:r>
              <a:rPr lang="en-IN" dirty="0"/>
              <a:t>Integrate sensor processing, state estimation, control algorithms and motor outputs in real time.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CC8D7E-1244-51D1-08B6-C0351119D8F0}"/>
              </a:ext>
            </a:extLst>
          </p:cNvPr>
          <p:cNvSpPr txBox="1"/>
          <p:nvPr/>
        </p:nvSpPr>
        <p:spPr>
          <a:xfrm>
            <a:off x="8538841" y="4371591"/>
            <a:ext cx="2865069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4. Our Challenge</a:t>
            </a:r>
          </a:p>
          <a:p>
            <a:r>
              <a:rPr lang="en-IN" dirty="0"/>
              <a:t>Develop and validate an autopilot using the prescribed ARIES v3 / VEGA platform.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D4CA7F-6330-F4A5-9230-AA3962A4E8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070" y="2167655"/>
            <a:ext cx="4208973" cy="360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163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6F8A7B4E-9E0D-1A0F-10D8-DACEBD63F78C}"/>
              </a:ext>
            </a:extLst>
          </p:cNvPr>
          <p:cNvSpPr txBox="1"/>
          <p:nvPr/>
        </p:nvSpPr>
        <p:spPr>
          <a:xfrm>
            <a:off x="-625972" y="-294734"/>
            <a:ext cx="7475007" cy="106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4865" lvl="1">
              <a:lnSpc>
                <a:spcPct val="150000"/>
              </a:lnSpc>
              <a:spcBef>
                <a:spcPts val="173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">
            <a:extLst>
              <a:ext uri="{FF2B5EF4-FFF2-40B4-BE49-F238E27FC236}">
                <a16:creationId xmlns:a16="http://schemas.microsoft.com/office/drawing/2014/main" id="{35A4F352-059E-678D-54A1-EDECA8C638C6}"/>
              </a:ext>
            </a:extLst>
          </p:cNvPr>
          <p:cNvGrpSpPr/>
          <p:nvPr/>
        </p:nvGrpSpPr>
        <p:grpSpPr>
          <a:xfrm>
            <a:off x="74645" y="6345657"/>
            <a:ext cx="12192000" cy="512343"/>
            <a:chOff x="0" y="0"/>
            <a:chExt cx="24383998" cy="1006476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9567CEAD-08C4-FACD-135E-99CF0DE558FA}"/>
                </a:ext>
              </a:extLst>
            </p:cNvPr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4934E324-36FE-EBC9-5349-E114ADA22598}"/>
              </a:ext>
            </a:extLst>
          </p:cNvPr>
          <p:cNvSpPr txBox="1"/>
          <p:nvPr/>
        </p:nvSpPr>
        <p:spPr>
          <a:xfrm>
            <a:off x="9290957" y="239066"/>
            <a:ext cx="268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fornian FB" panose="0207040306080B030204" pitchFamily="18" charset="0"/>
              </a:rPr>
              <a:t>TEAM NAVDRISHTI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ABB913-BA98-B7B8-D9D4-A2B30CED1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5798"/>
            <a:ext cx="12192000" cy="565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752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D67A2-D8B4-599C-E952-82992F87F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AAE097-4CE7-8ACC-9F1A-E56E1A2C690C}"/>
              </a:ext>
            </a:extLst>
          </p:cNvPr>
          <p:cNvSpPr txBox="1"/>
          <p:nvPr/>
        </p:nvSpPr>
        <p:spPr>
          <a:xfrm>
            <a:off x="-636606" y="-221403"/>
            <a:ext cx="7257326" cy="106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4865" lvl="1">
              <a:lnSpc>
                <a:spcPct val="150000"/>
              </a:lnSpc>
              <a:spcBef>
                <a:spcPts val="173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Working Flow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CC033C8-1C79-BB51-9A2B-3039DFF82B79}"/>
              </a:ext>
            </a:extLst>
          </p:cNvPr>
          <p:cNvGrpSpPr/>
          <p:nvPr/>
        </p:nvGrpSpPr>
        <p:grpSpPr>
          <a:xfrm>
            <a:off x="0" y="6345657"/>
            <a:ext cx="12192000" cy="512343"/>
            <a:chOff x="0" y="0"/>
            <a:chExt cx="24383998" cy="1006476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CAAA4EF5-C59C-4753-C2AE-7B88B40C827A}"/>
                </a:ext>
              </a:extLst>
            </p:cNvPr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600D08D-87F6-A4D2-E19C-7A780E9B8134}"/>
              </a:ext>
            </a:extLst>
          </p:cNvPr>
          <p:cNvSpPr txBox="1"/>
          <p:nvPr/>
        </p:nvSpPr>
        <p:spPr>
          <a:xfrm>
            <a:off x="9290957" y="239066"/>
            <a:ext cx="268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fornian FB" panose="0207040306080B030204" pitchFamily="18" charset="0"/>
              </a:rPr>
              <a:t>TEAM NAVDRISHTI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FB95A4-89D2-12E6-543B-EE017B4F3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0" y="946220"/>
            <a:ext cx="11860305" cy="529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2713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3C1AA-41F5-8E65-0567-983C71654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17F78C-D4D4-9911-E578-C01E48E3E9A2}"/>
              </a:ext>
            </a:extLst>
          </p:cNvPr>
          <p:cNvSpPr txBox="1"/>
          <p:nvPr/>
        </p:nvSpPr>
        <p:spPr>
          <a:xfrm>
            <a:off x="-416688" y="-202137"/>
            <a:ext cx="7349924" cy="106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4865" lvl="1">
              <a:lnSpc>
                <a:spcPct val="150000"/>
              </a:lnSpc>
              <a:spcBef>
                <a:spcPts val="173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D651A378-C946-DA9B-37F0-386C77ABF892}"/>
              </a:ext>
            </a:extLst>
          </p:cNvPr>
          <p:cNvGrpSpPr/>
          <p:nvPr/>
        </p:nvGrpSpPr>
        <p:grpSpPr>
          <a:xfrm>
            <a:off x="0" y="6345657"/>
            <a:ext cx="12192000" cy="512343"/>
            <a:chOff x="0" y="0"/>
            <a:chExt cx="24383998" cy="1006476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86AF27AD-9236-924D-555D-1ACEDB3D7EEE}"/>
                </a:ext>
              </a:extLst>
            </p:cNvPr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E0D1336-FCAA-E158-2B21-13EB3C8BA2B6}"/>
              </a:ext>
            </a:extLst>
          </p:cNvPr>
          <p:cNvSpPr txBox="1"/>
          <p:nvPr/>
        </p:nvSpPr>
        <p:spPr>
          <a:xfrm>
            <a:off x="9290957" y="239066"/>
            <a:ext cx="268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fornian FB" panose="0207040306080B030204" pitchFamily="18" charset="0"/>
              </a:rPr>
              <a:t>TEAM NAVDRISHTI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3360EF-831B-6723-A9C6-81308714E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58741"/>
            <a:ext cx="1173480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38133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7D0A2-F96D-5939-8B68-8492ED52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3829F8-A78A-50A1-DD3E-A7C545813413}"/>
              </a:ext>
            </a:extLst>
          </p:cNvPr>
          <p:cNvSpPr txBox="1"/>
          <p:nvPr/>
        </p:nvSpPr>
        <p:spPr>
          <a:xfrm>
            <a:off x="-672353" y="0"/>
            <a:ext cx="10506635" cy="213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4865" lvl="1">
              <a:lnSpc>
                <a:spcPct val="150000"/>
              </a:lnSpc>
              <a:spcBef>
                <a:spcPts val="173"/>
              </a:spcBef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SINCE PREVIOUS ROUND</a:t>
            </a:r>
          </a:p>
          <a:p>
            <a:pPr marL="774865" lvl="1">
              <a:lnSpc>
                <a:spcPct val="150000"/>
              </a:lnSpc>
              <a:spcBef>
                <a:spcPts val="173"/>
              </a:spcBef>
            </a:pP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EF96D3CE-98AB-2857-A185-8303026E7EAF}"/>
              </a:ext>
            </a:extLst>
          </p:cNvPr>
          <p:cNvGrpSpPr/>
          <p:nvPr/>
        </p:nvGrpSpPr>
        <p:grpSpPr>
          <a:xfrm>
            <a:off x="0" y="6345657"/>
            <a:ext cx="12192000" cy="512343"/>
            <a:chOff x="0" y="0"/>
            <a:chExt cx="24383998" cy="1006476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EE157EB-8F5B-3D06-2A19-A40BA9A53CD6}"/>
                </a:ext>
              </a:extLst>
            </p:cNvPr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11C32BF-A18E-D32D-3A4B-E794BF3F0237}"/>
              </a:ext>
            </a:extLst>
          </p:cNvPr>
          <p:cNvSpPr txBox="1"/>
          <p:nvPr/>
        </p:nvSpPr>
        <p:spPr>
          <a:xfrm>
            <a:off x="9597907" y="203208"/>
            <a:ext cx="2594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Californian FB" panose="0207040306080B030204" pitchFamily="18" charset="0"/>
              </a:rPr>
              <a:t>TEAM NAVDRISHTI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973251-5804-584D-1055-7182DE9BF7E3}"/>
              </a:ext>
            </a:extLst>
          </p:cNvPr>
          <p:cNvSpPr txBox="1"/>
          <p:nvPr/>
        </p:nvSpPr>
        <p:spPr>
          <a:xfrm>
            <a:off x="604579" y="1397675"/>
            <a:ext cx="5410739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Prototype</a:t>
            </a:r>
            <a:b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monitoring dashboard using simulated flight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visualization of flight parameters and system status.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856B1-1F88-ADEB-14EF-1D3669D569DC}"/>
              </a:ext>
            </a:extLst>
          </p:cNvPr>
          <p:cNvSpPr txBox="1"/>
          <p:nvPr/>
        </p:nvSpPr>
        <p:spPr>
          <a:xfrm>
            <a:off x="6494390" y="1397675"/>
            <a:ext cx="5168692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 Detection &amp; Recovery</a:t>
            </a:r>
            <a:b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structured fault-detection workflow.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proposed safety checks and fault-response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10920F-B34C-1755-7173-7AA2E6EBD02A}"/>
              </a:ext>
            </a:extLst>
          </p:cNvPr>
          <p:cNvSpPr txBox="1"/>
          <p:nvPr/>
        </p:nvSpPr>
        <p:spPr>
          <a:xfrm>
            <a:off x="6494390" y="3664178"/>
            <a:ext cx="5168692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Status</a:t>
            </a:r>
            <a:b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ARIES V3 board is currently in transit.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interfacing and testing are pending delivery.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FEE153-5287-D739-B2DD-BEFB05964500}"/>
              </a:ext>
            </a:extLst>
          </p:cNvPr>
          <p:cNvSpPr txBox="1"/>
          <p:nvPr/>
        </p:nvSpPr>
        <p:spPr>
          <a:xfrm>
            <a:off x="604579" y="3660356"/>
            <a:ext cx="5410739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Planning</a:t>
            </a:r>
            <a:b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programming tools, communication methods, and required libraries.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the integration of sensors, telemetry, and onboard processing.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69729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0A239-FF2B-037C-1D30-FDE451AED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5D1C75-2035-1ECB-D643-382942B48D3A}"/>
              </a:ext>
            </a:extLst>
          </p:cNvPr>
          <p:cNvSpPr txBox="1"/>
          <p:nvPr/>
        </p:nvSpPr>
        <p:spPr>
          <a:xfrm>
            <a:off x="-604947" y="-294734"/>
            <a:ext cx="9641370" cy="106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4865" lvl="1">
              <a:lnSpc>
                <a:spcPct val="150000"/>
              </a:lnSpc>
              <a:spcBef>
                <a:spcPts val="173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Stack &amp; Libraries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1FCDCB43-A902-04EB-2BF5-440EFCBCD05D}"/>
              </a:ext>
            </a:extLst>
          </p:cNvPr>
          <p:cNvGrpSpPr/>
          <p:nvPr/>
        </p:nvGrpSpPr>
        <p:grpSpPr>
          <a:xfrm>
            <a:off x="0" y="6345657"/>
            <a:ext cx="12192000" cy="512343"/>
            <a:chOff x="0" y="0"/>
            <a:chExt cx="24383998" cy="1006476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A8E4F796-8712-0134-05CB-521F24C57601}"/>
                </a:ext>
              </a:extLst>
            </p:cNvPr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09EC025-489E-0BBA-C84E-C6CAB8876C6A}"/>
              </a:ext>
            </a:extLst>
          </p:cNvPr>
          <p:cNvSpPr txBox="1"/>
          <p:nvPr/>
        </p:nvSpPr>
        <p:spPr>
          <a:xfrm>
            <a:off x="9290957" y="239066"/>
            <a:ext cx="268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fornian FB" panose="0207040306080B030204" pitchFamily="18" charset="0"/>
              </a:rPr>
              <a:t>TEAM NAVDRISHTI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37E9D5-7F16-5153-E21D-687727C8D7B1}"/>
              </a:ext>
            </a:extLst>
          </p:cNvPr>
          <p:cNvSpPr txBox="1"/>
          <p:nvPr/>
        </p:nvSpPr>
        <p:spPr>
          <a:xfrm>
            <a:off x="551730" y="1145328"/>
            <a:ext cx="493915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VEGA Board Package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Embedded firmware development for ARIES V3.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Sensor interfacing and peripheral testing.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3D2C13-70E9-F360-BE7C-22B19554E065}"/>
              </a:ext>
            </a:extLst>
          </p:cNvPr>
          <p:cNvSpPr txBox="1"/>
          <p:nvPr/>
        </p:nvSpPr>
        <p:spPr>
          <a:xfrm>
            <a:off x="6645970" y="1145328"/>
            <a:ext cx="5325205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Python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Simulated telemetry generation and data processing.</a:t>
            </a:r>
          </a:p>
          <a:p>
            <a:r>
              <a:rPr lang="en-US" dirty="0"/>
              <a:t>Fault monitoring and dashboard integration.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4A9F5-4505-A5EC-2FA0-6BC68FE2794B}"/>
              </a:ext>
            </a:extLst>
          </p:cNvPr>
          <p:cNvSpPr txBox="1"/>
          <p:nvPr/>
        </p:nvSpPr>
        <p:spPr>
          <a:xfrm>
            <a:off x="551730" y="2822162"/>
            <a:ext cx="4967005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err="1"/>
              <a:t>PySerial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Enables serial communication between the laptop and the wireless telemetry receiver.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6D67F7-D472-4FB4-3079-0E89A61CEA43}"/>
              </a:ext>
            </a:extLst>
          </p:cNvPr>
          <p:cNvSpPr txBox="1"/>
          <p:nvPr/>
        </p:nvSpPr>
        <p:spPr>
          <a:xfrm>
            <a:off x="6645970" y="2806041"/>
            <a:ext cx="5325205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 err="1"/>
              <a:t>Streamlit</a:t>
            </a:r>
            <a:r>
              <a:rPr lang="en-IN" b="1" dirty="0"/>
              <a:t> / Dashboard Framework</a:t>
            </a:r>
            <a:br>
              <a:rPr lang="en-IN" b="1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Live parameter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status and warning display.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906A71-C53D-1417-A57D-CF9D0DB7F6D5}"/>
              </a:ext>
            </a:extLst>
          </p:cNvPr>
          <p:cNvSpPr txBox="1"/>
          <p:nvPr/>
        </p:nvSpPr>
        <p:spPr>
          <a:xfrm>
            <a:off x="6615490" y="4512344"/>
            <a:ext cx="5325205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err="1"/>
              <a:t>MAVLink</a:t>
            </a:r>
            <a:r>
              <a:rPr lang="en-US" b="1" dirty="0"/>
              <a:t> 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Enables standardized telemetry and supported command exchange with a compatible autopilot.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DE9448-4E39-4072-9FD7-B6A8019B57C6}"/>
              </a:ext>
            </a:extLst>
          </p:cNvPr>
          <p:cNvSpPr txBox="1"/>
          <p:nvPr/>
        </p:nvSpPr>
        <p:spPr>
          <a:xfrm>
            <a:off x="551730" y="4499441"/>
            <a:ext cx="493915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err="1"/>
              <a:t>Plotly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Visualizes live data, including battery voltage and altitude trends.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B0A9CD-CA46-0F1F-DD2D-8DA8394BB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408" y="1477478"/>
            <a:ext cx="568138" cy="534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ython SVG and transparent PNG icons | TechIcons">
            <a:extLst>
              <a:ext uri="{FF2B5EF4-FFF2-40B4-BE49-F238E27FC236}">
                <a16:creationId xmlns:a16="http://schemas.microsoft.com/office/drawing/2014/main" id="{7C44A534-344B-A6FF-76B2-FE8AC421A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467" y="1405212"/>
            <a:ext cx="729503" cy="686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Welcome to pySerial's documentation — pySerial 3.0 documentation">
            <a:extLst>
              <a:ext uri="{FF2B5EF4-FFF2-40B4-BE49-F238E27FC236}">
                <a16:creationId xmlns:a16="http://schemas.microsoft.com/office/drawing/2014/main" id="{D311A02C-53CF-5E9A-0F5A-54101D229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9" y="3036783"/>
            <a:ext cx="435890" cy="534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Streamlit Icon SVG Vector &amp; PNG Free Download | UXWing">
            <a:extLst>
              <a:ext uri="{FF2B5EF4-FFF2-40B4-BE49-F238E27FC236}">
                <a16:creationId xmlns:a16="http://schemas.microsoft.com/office/drawing/2014/main" id="{3C21D8A1-F835-6DCE-404F-91893D212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640" y="3036783"/>
            <a:ext cx="70485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Plotly | Phidgets">
            <a:extLst>
              <a:ext uri="{FF2B5EF4-FFF2-40B4-BE49-F238E27FC236}">
                <a16:creationId xmlns:a16="http://schemas.microsoft.com/office/drawing/2014/main" id="{CC4C2C43-4BB3-F3DA-BC59-8784DCAD5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540" y="4623981"/>
            <a:ext cx="591270" cy="52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GitHub - mavlink/mavlink: Marshalling / communication ...">
            <a:extLst>
              <a:ext uri="{FF2B5EF4-FFF2-40B4-BE49-F238E27FC236}">
                <a16:creationId xmlns:a16="http://schemas.microsoft.com/office/drawing/2014/main" id="{41063F04-25B9-5161-899B-D2B1C593B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640" y="4623981"/>
            <a:ext cx="704850" cy="66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63694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CAE11-9468-4EB8-E26F-9C69BD7F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D2D64B-C6A3-C722-45D3-6CAA0C36928E}"/>
              </a:ext>
            </a:extLst>
          </p:cNvPr>
          <p:cNvSpPr txBox="1"/>
          <p:nvPr/>
        </p:nvSpPr>
        <p:spPr>
          <a:xfrm>
            <a:off x="-596873" y="-294734"/>
            <a:ext cx="6096000" cy="106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4865" lvl="1">
              <a:lnSpc>
                <a:spcPct val="150000"/>
              </a:lnSpc>
              <a:spcBef>
                <a:spcPts val="173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GCS Dashboard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19BCFAC5-3C6D-A58A-6A1C-317937378E0C}"/>
              </a:ext>
            </a:extLst>
          </p:cNvPr>
          <p:cNvGrpSpPr/>
          <p:nvPr/>
        </p:nvGrpSpPr>
        <p:grpSpPr>
          <a:xfrm>
            <a:off x="0" y="6345657"/>
            <a:ext cx="12192000" cy="512343"/>
            <a:chOff x="0" y="0"/>
            <a:chExt cx="24383998" cy="1006476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617F64C8-0C56-9AFA-B653-3E192764F248}"/>
                </a:ext>
              </a:extLst>
            </p:cNvPr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B6DE8DB-0427-5BAA-A123-DD84428B4E04}"/>
              </a:ext>
            </a:extLst>
          </p:cNvPr>
          <p:cNvSpPr txBox="1"/>
          <p:nvPr/>
        </p:nvSpPr>
        <p:spPr>
          <a:xfrm>
            <a:off x="9423037" y="110131"/>
            <a:ext cx="268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fornian FB" panose="0207040306080B030204" pitchFamily="18" charset="0"/>
              </a:rPr>
              <a:t>TEAM NAVDRISHTI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07D638-110B-C3DC-F116-F9BAA2233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76"/>
            <a:ext cx="12192000" cy="621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9561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C60F-3CEA-59D1-74FA-551C9DE5B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2">
            <a:extLst>
              <a:ext uri="{FF2B5EF4-FFF2-40B4-BE49-F238E27FC236}">
                <a16:creationId xmlns:a16="http://schemas.microsoft.com/office/drawing/2014/main" id="{3142D962-237E-5FE0-177B-ECE42FE71516}"/>
              </a:ext>
            </a:extLst>
          </p:cNvPr>
          <p:cNvGrpSpPr/>
          <p:nvPr/>
        </p:nvGrpSpPr>
        <p:grpSpPr>
          <a:xfrm>
            <a:off x="0" y="6345657"/>
            <a:ext cx="12192000" cy="512343"/>
            <a:chOff x="0" y="0"/>
            <a:chExt cx="24383998" cy="1006476"/>
          </a:xfrm>
        </p:grpSpPr>
        <p:sp>
          <p:nvSpPr>
            <p:cNvPr id="39" name="Freeform 3">
              <a:extLst>
                <a:ext uri="{FF2B5EF4-FFF2-40B4-BE49-F238E27FC236}">
                  <a16:creationId xmlns:a16="http://schemas.microsoft.com/office/drawing/2014/main" id="{23C3C06E-5B87-EDD8-B349-465D01AD1684}"/>
                </a:ext>
              </a:extLst>
            </p:cNvPr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ED783578-5337-A0BC-22A5-1C8F70DC6FC4}"/>
              </a:ext>
            </a:extLst>
          </p:cNvPr>
          <p:cNvSpPr txBox="1"/>
          <p:nvPr/>
        </p:nvSpPr>
        <p:spPr>
          <a:xfrm>
            <a:off x="9290957" y="239066"/>
            <a:ext cx="268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fornian FB" panose="0207040306080B030204" pitchFamily="18" charset="0"/>
              </a:rPr>
              <a:t>TEAM NAVDRISHTI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776670-8779-5152-E312-22CD3190FEE1}"/>
              </a:ext>
            </a:extLst>
          </p:cNvPr>
          <p:cNvSpPr txBox="1"/>
          <p:nvPr/>
        </p:nvSpPr>
        <p:spPr>
          <a:xfrm>
            <a:off x="-636521" y="-255507"/>
            <a:ext cx="9927478" cy="106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4865" lvl="1">
              <a:lnSpc>
                <a:spcPct val="150000"/>
              </a:lnSpc>
              <a:spcBef>
                <a:spcPts val="173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Detection and Recovery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6A0F5C-9356-9C8B-5A1B-B5667135EF06}"/>
              </a:ext>
            </a:extLst>
          </p:cNvPr>
          <p:cNvSpPr txBox="1"/>
          <p:nvPr/>
        </p:nvSpPr>
        <p:spPr>
          <a:xfrm>
            <a:off x="6535575" y="1772507"/>
            <a:ext cx="5435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Pre-flight Safety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drone will not launch if critical pre-flight checks fail.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Sensors, battery and telemetry are monitored during the mission.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Fault-Based Decisions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Recoverable faults trigger corrective action; critical faults trigger a suitable failsafe.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Termination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mission is aborted when necessary, and the drone follows its configured safe response.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794297-3CAA-6506-8892-D2300C6D23DB}"/>
              </a:ext>
            </a:extLst>
          </p:cNvPr>
          <p:cNvSpPr txBox="1"/>
          <p:nvPr/>
        </p:nvSpPr>
        <p:spPr>
          <a:xfrm>
            <a:off x="6573830" y="985009"/>
            <a:ext cx="4391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Safety Measures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9B1784-283F-FAA2-2CF4-42F6D73F7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14" y="769781"/>
            <a:ext cx="5973785" cy="544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237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Custom 886">
      <a:dk1>
        <a:sysClr val="windowText" lastClr="000000"/>
      </a:dk1>
      <a:lt1>
        <a:sysClr val="window" lastClr="FFFFFF"/>
      </a:lt1>
      <a:dk2>
        <a:srgbClr val="44546A"/>
      </a:dk2>
      <a:lt2>
        <a:srgbClr val="FE1A6A"/>
      </a:lt2>
      <a:accent1>
        <a:srgbClr val="EFD301"/>
      </a:accent1>
      <a:accent2>
        <a:srgbClr val="9CCA21"/>
      </a:accent2>
      <a:accent3>
        <a:srgbClr val="13C0C7"/>
      </a:accent3>
      <a:accent4>
        <a:srgbClr val="04425B"/>
      </a:accent4>
      <a:accent5>
        <a:srgbClr val="9813AA"/>
      </a:accent5>
      <a:accent6>
        <a:srgbClr val="E4193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2684</TotalTime>
  <Words>445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Californian FB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 Solutions</dc:creator>
  <cp:lastModifiedBy>mangesh patil</cp:lastModifiedBy>
  <cp:revision>58</cp:revision>
  <dcterms:created xsi:type="dcterms:W3CDTF">2023-07-28T06:52:03Z</dcterms:created>
  <dcterms:modified xsi:type="dcterms:W3CDTF">2026-10-29T04:59:30Z</dcterms:modified>
</cp:coreProperties>
</file>